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31" d="100"/>
          <a:sy n="131" d="100"/>
        </p:scale>
        <p:origin x="1962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5585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출처: 컨텍스트 정의 Anthropic, “Effective context engineering for AI agents”(2025). “입력과 출력 모두 포함”과 구성(시스템 프롬프트·메시지·도구 결과·이미지·문서·도구 정의·thinking 포함 출력)은 Claude Docs “Context windows”. “학습 데이터와 다름”과 토큰 정의·영어 약 3.5자=1토큰은 Claude Docs Glossary. 그림은 Claude Docs “Context windows” 그림을 다크로 가공하고 글자를 키움.</a:t>
            </a:r>
          </a:p>
          <a:p>
            <a:r>
              <a:t>Claude Code에서는 CLAUDE.md, 읽은 파일, 명령 실행 결과도 모두 컨텍스트가 된다(Claude Code 문서 “Explore the context window”). 세션을 시작하기만 해도 약 7,850 토큰이 이미 적재된다(문서 예시값). 시연: /context.</a:t>
            </a:r>
          </a:p>
          <a:p>
            <a:r>
              <a:t>토큰: Claude 기준 영어 약 3.5자가 1토큰, 언어마다 다르다(Glossary). 사람은 글자를 보지만 모델은 토큰을 본다.</a:t>
            </a:r>
          </a:p>
          <a:p>
            <a:r>
              <a:t>그림 읽기: 턴마다 이전 입력(구리색)과 출력(회색)이 전부 다음 입력으로 쌓인다. 이 누적 전체가 컨텍스트다.</a:t>
            </a:r>
          </a:p>
          <a:p>
            <a:r>
              <a:t>컨텍스트는 학습 데이터가 아니다. 대화할 때마다 새로 채워지는 입력이다.</a:t>
            </a:r>
          </a:p>
          <a:p>
            <a:r>
              <a:t>아래 가위 점선이 창의 한계 → 다음 슬라이드.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출처: 창 정의 Claude Docs Glossary(“working memory”, 학습 데이터와 구분). 한계와 부패 정의 Claude Docs “Context windows”. 그래프 데이터 Hong, Troynikov, Huber (2025) “Context Rot”, Chroma(같은 수치로 다시 그림).</a:t>
            </a:r>
          </a:p>
          <a:p>
            <a:r>
              <a:t>창은 학습 데이터와 다르다. 최신 모델 다수는 1M, 그 외 200K. 입력만으로 넘으면 요청 오류, 생성 중 닿으면 출력이 멈춘다.</a:t>
            </a:r>
          </a:p>
          <a:p>
            <a:r>
              <a:t>그래프 읽기: 같은 질문에 필요한 부분만 준 입력(Focused, 구리색, 약 300 토큰)과 대화 기록 전체(Full, 회색, 약 113K 토큰). 예: Claude Opus 4는 0.92 vs 0.38. 모든 모델에서 Full이 낮다.</a:t>
            </a:r>
          </a:p>
          <a:p>
            <a:r>
              <a:t>핵심: 한도 안이라도 많이 채울수록 흐려진다. 그래서 무엇을 넣을지 고르는 일이 필요하다 → 다음 장(Context engineering).</a:t>
            </a:r>
          </a:p>
          <a:p>
            <a:r>
              <a:t>추가 근거: 방해 문장 하나만 섞여도 성능 저하, 18개 모델 실험(Chroma).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x_bg_slid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fig-context-window-lar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7000" y="1906262"/>
            <a:ext cx="6350000" cy="41313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70000" y="609600"/>
            <a:ext cx="4086920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eaLnBrk="0">
              <a:lnSpc>
                <a:spcPts val="4200"/>
              </a:lnSpc>
            </a:pPr>
            <a:r>
              <a:rPr sz="3600" b="0" spc="-72">
                <a:solidFill>
                  <a:srgbClr val="D9D9D9"/>
                </a:solidFill>
                <a:latin typeface="Paperlogy 8 ExtraBold"/>
                <a:ea typeface="Paperlogy 8 ExtraBold"/>
                <a:cs typeface="Paperlogy 8 ExtraBold"/>
              </a:rPr>
              <a:t>컨텍스트(Context)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0000" y="1343025"/>
            <a:ext cx="6133902" cy="355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eaLnBrk="0">
              <a:lnSpc>
                <a:spcPts val="2800"/>
              </a:lnSpc>
            </a:pPr>
            <a:r>
              <a:rPr sz="2000" b="0">
                <a:solidFill>
                  <a:srgbClr val="FFF3EA"/>
                </a:solidFill>
                <a:latin typeface="Paperlogy 4 Regular"/>
                <a:ea typeface="Paperlogy 4 Regular"/>
                <a:cs typeface="Paperlogy 4 Regular"/>
              </a:rPr>
              <a:t>컨텍스트: LLM이 출력을 생성할 때 참조하는 토큰의 집합.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0000" y="2092325"/>
            <a:ext cx="3429000" cy="584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>
              <a:lnSpc>
                <a:spcPts val="2300"/>
              </a:lnSpc>
            </a:pPr>
            <a:r>
              <a:rPr sz="1500" b="0">
                <a:solidFill>
                  <a:srgbClr val="8C8681"/>
                </a:solidFill>
                <a:latin typeface="Paperlogy 4 Regular"/>
                <a:ea typeface="Paperlogy 4 Regular"/>
                <a:cs typeface="Paperlogy 4 Regular"/>
              </a:rPr>
              <a:t>입력과 지금까지 생성한 출력을</a:t>
            </a:r>
          </a:p>
          <a:p>
            <a:pPr algn="l" eaLnBrk="0">
              <a:lnSpc>
                <a:spcPts val="2300"/>
              </a:lnSpc>
            </a:pPr>
            <a:r>
              <a:rPr sz="1500" b="0">
                <a:solidFill>
                  <a:srgbClr val="8C8681"/>
                </a:solidFill>
                <a:latin typeface="Paperlogy 4 Regular"/>
                <a:ea typeface="Paperlogy 4 Regular"/>
                <a:cs typeface="Paperlogy 4 Regular"/>
              </a:rPr>
              <a:t>모두 포함한다.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0000" y="2854325"/>
            <a:ext cx="3429000" cy="876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>
              <a:lnSpc>
                <a:spcPts val="2300"/>
              </a:lnSpc>
            </a:pPr>
            <a:r>
              <a:rPr sz="1500" b="0">
                <a:solidFill>
                  <a:srgbClr val="8C8681"/>
                </a:solidFill>
                <a:latin typeface="Paperlogy 4 Regular"/>
                <a:ea typeface="Paperlogy 4 Regular"/>
                <a:cs typeface="Paperlogy 4 Regular"/>
              </a:rPr>
              <a:t>구성: 시스템 프롬프트, 도구 정의,</a:t>
            </a:r>
          </a:p>
          <a:p>
            <a:pPr algn="l" eaLnBrk="0">
              <a:lnSpc>
                <a:spcPts val="2300"/>
              </a:lnSpc>
            </a:pPr>
            <a:r>
              <a:rPr sz="1500" b="0">
                <a:solidFill>
                  <a:srgbClr val="8C8681"/>
                </a:solidFill>
                <a:latin typeface="Paperlogy 4 Regular"/>
                <a:ea typeface="Paperlogy 4 Regular"/>
                <a:cs typeface="Paperlogy 4 Regular"/>
              </a:rPr>
              <a:t>메시지(파일·도구 결과 포함),</a:t>
            </a:r>
          </a:p>
          <a:p>
            <a:pPr algn="l" eaLnBrk="0">
              <a:lnSpc>
                <a:spcPts val="2300"/>
              </a:lnSpc>
            </a:pPr>
            <a:r>
              <a:rPr sz="1500" b="0">
                <a:solidFill>
                  <a:srgbClr val="8C8681"/>
                </a:solidFill>
                <a:latin typeface="Paperlogy 4 Regular"/>
                <a:ea typeface="Paperlogy 4 Regular"/>
                <a:cs typeface="Paperlogy 4 Regular"/>
              </a:rPr>
              <a:t>모델의 출력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70000" y="3908425"/>
            <a:ext cx="3429000" cy="584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>
              <a:lnSpc>
                <a:spcPts val="2300"/>
              </a:lnSpc>
            </a:pPr>
            <a:r>
              <a:rPr sz="1500" b="0">
                <a:solidFill>
                  <a:srgbClr val="8C8681"/>
                </a:solidFill>
                <a:latin typeface="Paperlogy 4 Regular"/>
                <a:ea typeface="Paperlogy 4 Regular"/>
                <a:cs typeface="Paperlogy 4 Regular"/>
              </a:rPr>
              <a:t>학습 데이터가 아니라, 이번 호출에</a:t>
            </a:r>
          </a:p>
          <a:p>
            <a:pPr algn="l" eaLnBrk="0">
              <a:lnSpc>
                <a:spcPts val="2300"/>
              </a:lnSpc>
            </a:pPr>
            <a:r>
              <a:rPr sz="1500" b="0">
                <a:solidFill>
                  <a:srgbClr val="8C8681"/>
                </a:solidFill>
                <a:latin typeface="Paperlogy 4 Regular"/>
                <a:ea typeface="Paperlogy 4 Regular"/>
                <a:cs typeface="Paperlogy 4 Regular"/>
              </a:rPr>
              <a:t>넣어 준 토큰만 본다.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70000" y="4670425"/>
            <a:ext cx="3429000" cy="584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>
              <a:lnSpc>
                <a:spcPts val="2300"/>
              </a:lnSpc>
            </a:pPr>
            <a:r>
              <a:rPr sz="1500" b="0">
                <a:solidFill>
                  <a:srgbClr val="8C8681"/>
                </a:solidFill>
                <a:latin typeface="Paperlogy 4 Regular"/>
                <a:ea typeface="Paperlogy 4 Regular"/>
                <a:cs typeface="Paperlogy 4 Regular"/>
              </a:rPr>
              <a:t>※ 토큰(Token): 모델이 처리하는</a:t>
            </a:r>
          </a:p>
          <a:p>
            <a:pPr algn="l" eaLnBrk="0">
              <a:lnSpc>
                <a:spcPts val="2300"/>
              </a:lnSpc>
            </a:pPr>
            <a:r>
              <a:rPr sz="1500" b="0">
                <a:solidFill>
                  <a:srgbClr val="8C8681"/>
                </a:solidFill>
                <a:latin typeface="Paperlogy 4 Regular"/>
                <a:ea typeface="Paperlogy 4 Regular"/>
                <a:cs typeface="Paperlogy 4 Regular"/>
              </a:rPr>
              <a:t>최소 단위 (영어 약 3.5자 = 1토큰)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4944" y="6108700"/>
            <a:ext cx="2592056" cy="19486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 eaLnBrk="0">
              <a:lnSpc>
                <a:spcPts val="1700"/>
              </a:lnSpc>
            </a:pPr>
            <a:r>
              <a:rPr sz="1200" b="0" dirty="0" err="1">
                <a:solidFill>
                  <a:srgbClr val="8C8681"/>
                </a:solidFill>
                <a:latin typeface="Paperlogy 4 Regular"/>
                <a:ea typeface="Paperlogy 4 Regular"/>
                <a:cs typeface="Paperlogy 4 Regular"/>
              </a:rPr>
              <a:t>턴마다</a:t>
            </a:r>
            <a:r>
              <a:rPr sz="1200" b="0" dirty="0">
                <a:solidFill>
                  <a:srgbClr val="8C8681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00" b="0" dirty="0" err="1">
                <a:solidFill>
                  <a:srgbClr val="8C8681"/>
                </a:solidFill>
                <a:latin typeface="Paperlogy 4 Regular"/>
                <a:ea typeface="Paperlogy 4 Regular"/>
                <a:cs typeface="Paperlogy 4 Regular"/>
              </a:rPr>
              <a:t>입력과</a:t>
            </a:r>
            <a:r>
              <a:rPr sz="1200" b="0" dirty="0">
                <a:solidFill>
                  <a:srgbClr val="8C8681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00" b="0" dirty="0" err="1">
                <a:solidFill>
                  <a:srgbClr val="8C8681"/>
                </a:solidFill>
                <a:latin typeface="Paperlogy 4 Regular"/>
                <a:ea typeface="Paperlogy 4 Regular"/>
                <a:cs typeface="Paperlogy 4 Regular"/>
              </a:rPr>
              <a:t>출력이</a:t>
            </a:r>
            <a:r>
              <a:rPr sz="1200" b="0" dirty="0">
                <a:solidFill>
                  <a:srgbClr val="8C8681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00" b="0" dirty="0" err="1">
                <a:solidFill>
                  <a:srgbClr val="8C8681"/>
                </a:solidFill>
                <a:latin typeface="Paperlogy 4 Regular"/>
                <a:ea typeface="Paperlogy 4 Regular"/>
                <a:cs typeface="Paperlogy 4 Regular"/>
              </a:rPr>
              <a:t>쌓여</a:t>
            </a:r>
            <a:r>
              <a:rPr sz="1200" b="0" dirty="0">
                <a:solidFill>
                  <a:srgbClr val="8C8681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00" b="0" dirty="0" err="1">
                <a:solidFill>
                  <a:srgbClr val="8C8681"/>
                </a:solidFill>
                <a:latin typeface="Paperlogy 4 Regular"/>
                <a:ea typeface="Paperlogy 4 Regular"/>
                <a:cs typeface="Paperlogy 4 Regular"/>
              </a:rPr>
              <a:t>컨텍스트가</a:t>
            </a:r>
            <a:r>
              <a:rPr sz="1200" b="0" dirty="0">
                <a:solidFill>
                  <a:srgbClr val="8C8681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lang="ko-KR" altLang="en-US" sz="1200" dirty="0">
                <a:solidFill>
                  <a:srgbClr val="8C8681"/>
                </a:solidFill>
                <a:latin typeface="Paperlogy 4 Regular"/>
                <a:ea typeface="Paperlogy 4 Regular"/>
                <a:cs typeface="Paperlogy 4 Regular"/>
              </a:rPr>
              <a:t>커짐</a:t>
            </a:r>
            <a:endParaRPr sz="1200" b="0" dirty="0">
              <a:solidFill>
                <a:srgbClr val="8C8681"/>
              </a:solidFill>
              <a:latin typeface="Paperlogy 4 Regular"/>
              <a:ea typeface="Paperlogy 4 Regular"/>
              <a:cs typeface="Paperlogy 4 Regula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x_bg_slid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fig-context-rot-chroma-da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4268" y="2095500"/>
            <a:ext cx="6980464" cy="3257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70000" y="609600"/>
            <a:ext cx="6579691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eaLnBrk="0">
              <a:lnSpc>
                <a:spcPts val="4200"/>
              </a:lnSpc>
            </a:pPr>
            <a:r>
              <a:rPr sz="3600" b="0" spc="-72">
                <a:solidFill>
                  <a:srgbClr val="D9D9D9"/>
                </a:solidFill>
                <a:latin typeface="Paperlogy 8 ExtraBold"/>
                <a:ea typeface="Paperlogy 8 ExtraBold"/>
                <a:cs typeface="Paperlogy 8 ExtraBold"/>
              </a:rPr>
              <a:t>컨텍스트 창(Context window)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0000" y="1343025"/>
            <a:ext cx="7375128" cy="355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eaLnBrk="0">
              <a:lnSpc>
                <a:spcPts val="2800"/>
              </a:lnSpc>
            </a:pPr>
            <a:r>
              <a:rPr sz="2000" b="0">
                <a:solidFill>
                  <a:srgbClr val="FFF3EA"/>
                </a:solidFill>
                <a:latin typeface="Paperlogy 4 Regular"/>
                <a:ea typeface="Paperlogy 4 Regular"/>
                <a:cs typeface="Paperlogy 4 Regular"/>
              </a:rPr>
              <a:t>컨텍스트 창: 모델이 새 텍스트를 생성할 때 참조할 수 있는 텍스트의 양.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0000" y="2092325"/>
            <a:ext cx="3429000" cy="876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>
              <a:lnSpc>
                <a:spcPts val="2300"/>
              </a:lnSpc>
            </a:pPr>
            <a:r>
              <a:rPr sz="1500" b="0">
                <a:solidFill>
                  <a:srgbClr val="8C8681"/>
                </a:solidFill>
                <a:latin typeface="Paperlogy 4 Regular"/>
                <a:ea typeface="Paperlogy 4 Regular"/>
                <a:cs typeface="Paperlogy 4 Regular"/>
              </a:rPr>
              <a:t>모델의 작업 기억.</a:t>
            </a:r>
          </a:p>
          <a:p>
            <a:pPr algn="l" eaLnBrk="0">
              <a:lnSpc>
                <a:spcPts val="2300"/>
              </a:lnSpc>
            </a:pPr>
            <a:r>
              <a:rPr sz="1500" b="0">
                <a:solidFill>
                  <a:srgbClr val="8C8681"/>
                </a:solidFill>
                <a:latin typeface="Paperlogy 4 Regular"/>
                <a:ea typeface="Paperlogy 4 Regular"/>
                <a:cs typeface="Paperlogy 4 Regular"/>
              </a:rPr>
              <a:t>입력과 출력의 합이 200K 또는</a:t>
            </a:r>
          </a:p>
          <a:p>
            <a:pPr algn="l" eaLnBrk="0">
              <a:lnSpc>
                <a:spcPts val="2300"/>
              </a:lnSpc>
            </a:pPr>
            <a:r>
              <a:rPr sz="1500" b="0">
                <a:solidFill>
                  <a:srgbClr val="8C8681"/>
                </a:solidFill>
                <a:latin typeface="Paperlogy 4 Regular"/>
                <a:ea typeface="Paperlogy 4 Regular"/>
                <a:cs typeface="Paperlogy 4 Regular"/>
              </a:rPr>
              <a:t>1M 토큰을 넘을 수 없다.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0000" y="3146425"/>
            <a:ext cx="3429000" cy="876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>
              <a:lnSpc>
                <a:spcPts val="2300"/>
              </a:lnSpc>
            </a:pPr>
            <a:r>
              <a:rPr sz="1500" b="0">
                <a:solidFill>
                  <a:srgbClr val="8C8681"/>
                </a:solidFill>
                <a:latin typeface="Paperlogy 4 Regular"/>
                <a:ea typeface="Paperlogy 4 Regular"/>
                <a:cs typeface="Paperlogy 4 Regular"/>
              </a:rPr>
              <a:t>컨텍스트 부패(Context rot):</a:t>
            </a:r>
          </a:p>
          <a:p>
            <a:pPr algn="l" eaLnBrk="0">
              <a:lnSpc>
                <a:spcPts val="2300"/>
              </a:lnSpc>
            </a:pPr>
            <a:r>
              <a:rPr sz="1500" b="0">
                <a:solidFill>
                  <a:srgbClr val="8C8681"/>
                </a:solidFill>
                <a:latin typeface="Paperlogy 4 Regular"/>
                <a:ea typeface="Paperlogy 4 Regular"/>
                <a:cs typeface="Paperlogy 4 Regular"/>
              </a:rPr>
              <a:t>토큰이 늘수록 정확도와 회상이</a:t>
            </a:r>
          </a:p>
          <a:p>
            <a:pPr algn="l" eaLnBrk="0">
              <a:lnSpc>
                <a:spcPts val="2300"/>
              </a:lnSpc>
            </a:pPr>
            <a:r>
              <a:rPr sz="1500" b="0">
                <a:solidFill>
                  <a:srgbClr val="8C8681"/>
                </a:solidFill>
                <a:latin typeface="Paperlogy 4 Regular"/>
                <a:ea typeface="Paperlogy 4 Regular"/>
                <a:cs typeface="Paperlogy 4 Regular"/>
              </a:rPr>
              <a:t>떨어지는 현상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99014" y="5461000"/>
            <a:ext cx="5157986" cy="215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 eaLnBrk="0">
              <a:lnSpc>
                <a:spcPts val="1700"/>
              </a:lnSpc>
            </a:pPr>
            <a:r>
              <a:rPr sz="1200" b="0">
                <a:solidFill>
                  <a:srgbClr val="8C8681"/>
                </a:solidFill>
                <a:latin typeface="Paperlogy 4 Regular"/>
                <a:ea typeface="Paperlogy 4 Regular"/>
                <a:cs typeface="Paperlogy 4 Regular"/>
              </a:rPr>
              <a:t>같은 질문, 필요한 부분만 넣은 입력(Focused)이 전체 기록(Full)보다 정확하다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490</Words>
  <Application>Microsoft Office PowerPoint</Application>
  <PresentationFormat>와이드스크린</PresentationFormat>
  <Paragraphs>32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8" baseType="lpstr">
      <vt:lpstr>Paperlogy 4 Regular</vt:lpstr>
      <vt:lpstr>Paperlogy 8 ExtraBold</vt:lpstr>
      <vt:lpstr>맑은 고딕</vt:lpstr>
      <vt:lpstr>Arial</vt:lpstr>
      <vt:lpstr>Calibri</vt:lpstr>
      <vt:lpstr>Office Theme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KEI</cp:lastModifiedBy>
  <cp:revision>2</cp:revision>
  <dcterms:created xsi:type="dcterms:W3CDTF">2013-01-27T09:14:16Z</dcterms:created>
  <dcterms:modified xsi:type="dcterms:W3CDTF">2026-09-29T06:37:03Z</dcterms:modified>
  <cp:category/>
</cp:coreProperties>
</file>