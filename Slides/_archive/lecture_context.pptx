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962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606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출처: 토큰 정의 Claude Docs Glossary. 컨텍스트 정의 Anthropic, “Effective context engineering for AI agents”(2025), “입력과 출력 모두 포함”은 Claude Docs “Context windows”의 설명(응답 자체와 이번 턴 출력도 창에 포함)에 근거.</a:t>
            </a:r>
          </a:p>
          <a:p>
            <a:r>
              <a:t>토큰: Claude 기준 영어 약 3.5자가 1토큰, 언어마다 다르다(Glossary). 사람은 글자를 보지만 모델은 토큰을 본다.</a:t>
            </a:r>
          </a:p>
          <a:p>
            <a:r>
              <a:t>그림 읽기: 턴마다 이전 입력과 출력이 전부 다음 입력으로 쌓인다. 이 누적 전체가 컨텍스트다. 앞 턴의 Text response가 다음 턴 Input 안으로 들어가는 것을 가리킬 것.</a:t>
            </a:r>
          </a:p>
          <a:p>
            <a:r>
              <a:t>컨텍스트는 학습 데이터가 아니다. 대화할 때마다 새로 채워지는 입력이다.</a:t>
            </a:r>
          </a:p>
          <a:p>
            <a:r>
              <a:t>아래 가위 점선이 창의 한계 → 다음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출처: 창 정의 Claude Docs Glossary(“working memory”, 학습 데이터와 구분). 한계와 부패 정의 Claude Docs “Context windows”. 그래프 Chroma “Context Rot” 보고서(색만 다크로 치환).</a:t>
            </a:r>
          </a:p>
          <a:p>
            <a:r>
              <a:t>창은 학습 데이터와 다르다(Glossary). 한계: 최신 모델 다수는 1M, 그 외 200K. 입력과 출력의 합이 이 한도를 넘을 수 없다. 입력만으로 한도를 넘으면 요청 오류, 생성 중 한도에 닿으면 출력이 멈춘다.</a:t>
            </a:r>
          </a:p>
          <a:p>
            <a:r>
              <a:t>그래프 읽기: 같은 질문에 필요한 부분만 준 입력(Focused, 구리색, 약 300 토큰)과 대화 기록 전체(Full, 회색, 약 113K 토큰). 예: Claude Opus 4는 0.92 vs 0.38. 모든 모델에서 Full이 낮다.</a:t>
            </a:r>
          </a:p>
          <a:p>
            <a:r>
              <a:t>핵심: 한도 안이라도 많이 채울수록 흐려진다. 그래서 무엇을 넣을지 고르는 일이 필요하다 → 다음 장(Context engineering).</a:t>
            </a:r>
          </a:p>
          <a:p>
            <a:r>
              <a:t>추가 근거: 방해 문장 하나만 섞여도 성능 저하, 18개 모델 실험(Chroma).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x_bg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fig-context-window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229" y="1377451"/>
            <a:ext cx="6306613" cy="41030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604012"/>
            <a:ext cx="4086920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3888"/>
              </a:lnSpc>
            </a:pPr>
            <a:r>
              <a:rPr sz="3600" b="0" spc="-72" dirty="0" err="1">
                <a:solidFill>
                  <a:srgbClr val="D9D9D9"/>
                </a:solidFill>
                <a:latin typeface="Paperlogy 8 ExtraBold"/>
                <a:ea typeface="Paperlogy 8 ExtraBold"/>
                <a:cs typeface="Paperlogy 8 ExtraBold"/>
              </a:rPr>
              <a:t>컨텍스트</a:t>
            </a:r>
            <a:r>
              <a:rPr sz="3600" b="0" spc="-72" dirty="0">
                <a:solidFill>
                  <a:srgbClr val="D9D9D9"/>
                </a:solidFill>
                <a:latin typeface="Paperlogy 8 ExtraBold"/>
                <a:ea typeface="Paperlogy 8 ExtraBold"/>
                <a:cs typeface="Paperlogy 8 ExtraBold"/>
              </a:rPr>
              <a:t>(Context)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3102507"/>
            <a:ext cx="3810000" cy="652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700"/>
              </a:lnSpc>
            </a:pPr>
            <a:r>
              <a:rPr lang="ko-KR" altLang="en-US" dirty="0">
                <a:solidFill>
                  <a:srgbClr val="736D69"/>
                </a:solidFill>
                <a:latin typeface="Paperlogy 4 Regular"/>
                <a:ea typeface="Paperlogy 4 Regular"/>
              </a:rPr>
              <a:t>토큰 </a:t>
            </a:r>
            <a:r>
              <a:rPr lang="en-US" altLang="ko-KR" dirty="0">
                <a:solidFill>
                  <a:srgbClr val="736D69"/>
                </a:solidFill>
                <a:latin typeface="Paperlogy 4 Regular"/>
                <a:ea typeface="Paperlogy 4 Regular"/>
              </a:rPr>
              <a:t>(Token): </a:t>
            </a:r>
            <a:r>
              <a:rPr dirty="0" err="1">
                <a:solidFill>
                  <a:srgbClr val="736D69"/>
                </a:solidFill>
                <a:latin typeface="Paperlogy 4 Regular"/>
                <a:ea typeface="Paperlogy 4 Regular"/>
              </a:rPr>
              <a:t>언어</a:t>
            </a:r>
            <a:r>
              <a:rPr dirty="0">
                <a:solidFill>
                  <a:srgbClr val="736D69"/>
                </a:solidFill>
                <a:latin typeface="Paperlogy 4 Regular"/>
                <a:ea typeface="Paperlogy 4 Regular"/>
              </a:rPr>
              <a:t> </a:t>
            </a:r>
            <a:r>
              <a:rPr dirty="0" err="1">
                <a:solidFill>
                  <a:srgbClr val="736D69"/>
                </a:solidFill>
                <a:latin typeface="Paperlogy 4 Regular"/>
                <a:ea typeface="Paperlogy 4 Regular"/>
              </a:rPr>
              <a:t>모델이</a:t>
            </a:r>
            <a:r>
              <a:rPr dirty="0">
                <a:solidFill>
                  <a:srgbClr val="736D69"/>
                </a:solidFill>
                <a:latin typeface="Paperlogy 4 Regular"/>
                <a:ea typeface="Paperlogy 4 Regular"/>
              </a:rPr>
              <a:t> </a:t>
            </a:r>
            <a:r>
              <a:rPr dirty="0" err="1">
                <a:solidFill>
                  <a:srgbClr val="736D69"/>
                </a:solidFill>
                <a:latin typeface="Paperlogy 4 Regular"/>
                <a:ea typeface="Paperlogy 4 Regular"/>
              </a:rPr>
              <a:t>처리하는</a:t>
            </a:r>
            <a:r>
              <a:rPr dirty="0">
                <a:solidFill>
                  <a:srgbClr val="736D69"/>
                </a:solidFill>
                <a:latin typeface="Paperlogy 4 Regular"/>
                <a:ea typeface="Paperlogy 4 Regular"/>
              </a:rPr>
              <a:t> </a:t>
            </a:r>
            <a:r>
              <a:rPr dirty="0" err="1">
                <a:solidFill>
                  <a:srgbClr val="736D69"/>
                </a:solidFill>
                <a:latin typeface="Paperlogy 4 Regular"/>
                <a:ea typeface="Paperlogy 4 Regular"/>
              </a:rPr>
              <a:t>가장</a:t>
            </a:r>
            <a:r>
              <a:rPr lang="en-US" dirty="0">
                <a:solidFill>
                  <a:srgbClr val="736D69"/>
                </a:solidFill>
                <a:latin typeface="Paperlogy 4 Regular"/>
                <a:ea typeface="Paperlogy 4 Regular"/>
              </a:rPr>
              <a:t> </a:t>
            </a:r>
            <a:r>
              <a:rPr dirty="0" err="1">
                <a:solidFill>
                  <a:srgbClr val="736D69"/>
                </a:solidFill>
                <a:latin typeface="Paperlogy 4 Regular"/>
                <a:ea typeface="Paperlogy 4 Regular"/>
              </a:rPr>
              <a:t>작은</a:t>
            </a:r>
            <a:r>
              <a:rPr dirty="0">
                <a:solidFill>
                  <a:srgbClr val="736D69"/>
                </a:solidFill>
                <a:latin typeface="Paperlogy 4 Regular"/>
                <a:ea typeface="Paperlogy 4 Regular"/>
              </a:rPr>
              <a:t> </a:t>
            </a:r>
            <a:r>
              <a:rPr dirty="0" err="1">
                <a:solidFill>
                  <a:srgbClr val="736D69"/>
                </a:solidFill>
                <a:latin typeface="Paperlogy 4 Regular"/>
                <a:ea typeface="Paperlogy 4 Regular"/>
              </a:rPr>
              <a:t>단위</a:t>
            </a:r>
            <a:r>
              <a:rPr lang="en-US" dirty="0">
                <a:solidFill>
                  <a:srgbClr val="736D69"/>
                </a:solidFill>
                <a:latin typeface="Paperlogy 4 Regular"/>
                <a:ea typeface="Paperlogy 4 Regular"/>
              </a:rPr>
              <a:t>(</a:t>
            </a:r>
            <a:r>
              <a:rPr lang="ko-KR" altLang="en-US"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단어</a:t>
            </a:r>
            <a:r>
              <a:rPr lang="en-US" altLang="ko-KR"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단어 조각</a:t>
            </a:r>
            <a:r>
              <a:rPr lang="en-US" altLang="ko-KR"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글자</a:t>
            </a:r>
            <a:r>
              <a:rPr lang="en-US" altLang="ko-KR"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바이트</a:t>
            </a:r>
            <a:r>
              <a:rPr lang="en-US" altLang="ko-KR"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  <a:endParaRPr dirty="0">
              <a:solidFill>
                <a:srgbClr val="736D69"/>
              </a:solidFill>
              <a:latin typeface="Paperlogy 4 Regular"/>
              <a:ea typeface="Paperlogy 4 Regula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6152" y="1344819"/>
            <a:ext cx="4086920" cy="825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3360"/>
              </a:lnSpc>
            </a:pPr>
            <a:r>
              <a:rPr lang="ko-KR" altLang="en-US" sz="2400" b="0" dirty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컨텍스트</a:t>
            </a:r>
            <a:r>
              <a:rPr lang="en-US" altLang="ko-KR" sz="2400" b="0" dirty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: </a:t>
            </a:r>
            <a:r>
              <a:rPr sz="2400" b="0" dirty="0" err="1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LLM이</a:t>
            </a:r>
            <a:r>
              <a:rPr sz="2400" b="0" dirty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2400" b="0" dirty="0" err="1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출력을</a:t>
            </a:r>
            <a:r>
              <a:rPr sz="2400" b="0" dirty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2400" b="0" dirty="0" err="1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생성할</a:t>
            </a:r>
            <a:r>
              <a:rPr sz="2400" b="0" dirty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 때</a:t>
            </a:r>
            <a:r>
              <a:rPr lang="en-US" sz="2400" b="0" dirty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2400" b="0" dirty="0" err="1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참조하는</a:t>
            </a:r>
            <a:r>
              <a:rPr sz="2400" b="0" dirty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2400" b="0" dirty="0" err="1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토큰의</a:t>
            </a:r>
            <a:r>
              <a:rPr sz="2400" b="0" dirty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2400" b="0" dirty="0" err="1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집합</a:t>
            </a:r>
            <a:endParaRPr sz="2400" b="0" dirty="0">
              <a:solidFill>
                <a:srgbClr val="FFF3EA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16152" y="2500329"/>
            <a:ext cx="9044432" cy="306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700"/>
              </a:lnSpc>
            </a:pPr>
            <a:r>
              <a:rPr sz="1800" b="0" dirty="0" err="1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입력과</a:t>
            </a:r>
            <a:r>
              <a:rPr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800" b="0" dirty="0" err="1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지금까지</a:t>
            </a:r>
            <a:r>
              <a:rPr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800" b="0" dirty="0" err="1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생성한</a:t>
            </a:r>
            <a:r>
              <a:rPr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800" b="0" dirty="0" err="1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출력을</a:t>
            </a:r>
            <a:r>
              <a:rPr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800" b="0" dirty="0" err="1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모두</a:t>
            </a:r>
            <a:r>
              <a:rPr lang="en-US" sz="1800" b="0" dirty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800" b="0" dirty="0" err="1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포함</a:t>
            </a:r>
            <a:endParaRPr sz="1800" b="0" dirty="0">
              <a:solidFill>
                <a:srgbClr val="736D69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x_bg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fig-context-rot-chroma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378" y="2445345"/>
            <a:ext cx="6347245" cy="314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604012"/>
            <a:ext cx="2438499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3888"/>
              </a:lnSpc>
            </a:pPr>
            <a:r>
              <a:rPr sz="3600" b="0" spc="-72">
                <a:solidFill>
                  <a:srgbClr val="D9D9D9"/>
                </a:solidFill>
                <a:latin typeface="Paperlogy 8 ExtraBold"/>
                <a:ea typeface="Paperlogy 8 ExtraBold"/>
                <a:cs typeface="Paperlogy 8 ExtraBold"/>
              </a:rPr>
              <a:t>컨텍스트 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1769269"/>
            <a:ext cx="3398838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2700"/>
              </a:lnSpc>
            </a:pPr>
            <a:r>
              <a:rPr sz="1800" b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컨텍스트 창 </a:t>
            </a:r>
            <a:r>
              <a:rPr sz="1800" b="0" spc="-5">
                <a:solidFill>
                  <a:srgbClr val="736D69"/>
                </a:solidFill>
                <a:latin typeface="JetBrains Mono"/>
                <a:ea typeface="Paperlogy 4 Regular"/>
                <a:cs typeface="Paperlogy 4 Regular"/>
              </a:rPr>
              <a:t>Context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2143284"/>
            <a:ext cx="330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3360"/>
              </a:lnSpc>
            </a:pPr>
            <a:r>
              <a:rPr sz="2400" b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모델이 새 텍스트를</a:t>
            </a:r>
          </a:p>
          <a:p>
            <a:pPr algn="l" eaLnBrk="0">
              <a:lnSpc>
                <a:spcPts val="3360"/>
              </a:lnSpc>
            </a:pPr>
            <a:r>
              <a:rPr sz="2400" b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생성할 때 참조할 수 있는</a:t>
            </a:r>
          </a:p>
          <a:p>
            <a:pPr algn="l" eaLnBrk="0">
              <a:lnSpc>
                <a:spcPts val="3360"/>
              </a:lnSpc>
            </a:pPr>
            <a:r>
              <a:rPr sz="2400" b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텍스트의 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3487341"/>
            <a:ext cx="188982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2700"/>
              </a:lnSpc>
            </a:pPr>
            <a:r>
              <a:rPr sz="1800" b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모델의 작업 기억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4135041"/>
            <a:ext cx="1516261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2700"/>
              </a:lnSpc>
            </a:pPr>
            <a:r>
              <a:rPr sz="1800" b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한계 </a:t>
            </a:r>
            <a:r>
              <a:rPr sz="1800" b="0" spc="-5">
                <a:solidFill>
                  <a:srgbClr val="736D69"/>
                </a:solidFill>
                <a:latin typeface="JetBrains Mono"/>
                <a:ea typeface="Paperlogy 4 Regular"/>
                <a:cs typeface="Paperlogy 4 Regular"/>
              </a:rPr>
              <a:t>Limit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4509056"/>
            <a:ext cx="2984004" cy="426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3360"/>
              </a:lnSpc>
            </a:pPr>
            <a:r>
              <a:rPr sz="2400" b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200K 또는 1M 토큰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4999831"/>
            <a:ext cx="2337891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2700"/>
              </a:lnSpc>
            </a:pPr>
            <a:r>
              <a:rPr sz="1800" b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입력 + 출력의 합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17055"/>
            <a:ext cx="319037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2700"/>
              </a:lnSpc>
            </a:pPr>
            <a:r>
              <a:rPr sz="1800" b="0">
                <a:solidFill>
                  <a:srgbClr val="736D69"/>
                </a:solidFill>
                <a:latin typeface="Paperlogy 4 Regular"/>
                <a:ea typeface="Paperlogy 4 Regular"/>
                <a:cs typeface="Paperlogy 4 Regular"/>
              </a:rPr>
              <a:t>컨텍스트 부패 </a:t>
            </a:r>
            <a:r>
              <a:rPr sz="1800" b="0" spc="-5">
                <a:solidFill>
                  <a:srgbClr val="736D69"/>
                </a:solidFill>
                <a:latin typeface="JetBrains Mono"/>
                <a:ea typeface="Paperlogy 4 Regular"/>
                <a:cs typeface="Paperlogy 4 Regular"/>
              </a:rPr>
              <a:t>Context rot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91070"/>
            <a:ext cx="5812631" cy="426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3360"/>
              </a:lnSpc>
            </a:pPr>
            <a:r>
              <a:rPr sz="2400" b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토큰이 늘수록 정확도와 회상이 떨어지는 현상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364</Words>
  <Application>Microsoft Office PowerPoint</Application>
  <PresentationFormat>와이드스크린</PresentationFormat>
  <Paragraphs>25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Paperlogy 4 Regular</vt:lpstr>
      <vt:lpstr>Paperlogy 8 ExtraBold</vt:lpstr>
      <vt:lpstr>맑은 고딕</vt:lpstr>
      <vt:lpstr>Arial</vt:lpstr>
      <vt:lpstr>Calibri</vt:lpstr>
      <vt:lpstr>JetBrains Mono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KEI</cp:lastModifiedBy>
  <cp:revision>2</cp:revision>
  <dcterms:created xsi:type="dcterms:W3CDTF">2013-01-27T09:14:16Z</dcterms:created>
  <dcterms:modified xsi:type="dcterms:W3CDTF">2026-09-29T05:19:21Z</dcterms:modified>
  <cp:category/>
</cp:coreProperties>
</file>