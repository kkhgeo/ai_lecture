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토큰 정의 Claude Docs Glossary. 컨텍스트 정의 Anthropic, "Effective context engineering for AI agents"(2025). "입력과 출력 모두 포함"은 Claude Docs "Context windows"에 근거. 그림은 Claude Docs "Context windows" 그림을 다크로 가공.</a:t>
            </a:r>
          </a:p>
          <a:p>
            <a:r>
              <a:t>토큰: Claude 기준 영어 약 3.5자가 1토큰, 언어마다 다르다. 사람은 글자를 보지만 모델은 토큰을 본다.</a:t>
            </a:r>
          </a:p>
          <a:p>
            <a:r>
              <a:t>그림 읽기: 턴마다 이전 입력과 출력이 전부 다음 입력으로 쌓인다. 이 누적 전체가 컨텍스트다.</a:t>
            </a:r>
          </a:p>
          <a:p>
            <a:r>
              <a:t>컨텍스트는 학습 데이터가 아니다. 대화할 때마다 새로 채워지는 입력이다.</a:t>
            </a:r>
          </a:p>
          <a:p>
            <a:r>
              <a:t>아래 가위 점선이 창의 한계 → 다음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창 정의 Claude Docs Glossary. 한계와 부패 정의 Claude Docs "Context windows". 그래프 Hong, Troynikov, Huber (2025) "Context Rot", Chroma (색만 다크로 치환).</a:t>
            </a:r>
          </a:p>
          <a:p>
            <a:r>
              <a:t>창은 학습 데이터와 다르다. 최신 모델 다수는 1M, 그 외 200K. 입력과 출력의 합이 이 한도를 넘을 수 없다. 입력만으로 넘으면 요청 오류, 생성 중 닿으면 출력이 멈춘다.</a:t>
            </a:r>
          </a:p>
          <a:p>
            <a:r>
              <a:t>그래프 읽기: 같은 질문에 필요한 부분만 준 입력(Focused, 구리색, 약 300 토큰)과 대화 기록 전체(Full, 회색, 약 113K 토큰). 예: Claude Opus 4는 0.92 vs 0.38. 모든 모델에서 Full이 낮다.</a:t>
            </a:r>
          </a:p>
          <a:p>
            <a:r>
              <a:t>핵심: 한도 안이라도 많이 채울수록 흐려진다 → 다음 장(Context engineering).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bg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k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279400"/>
            <a:ext cx="546100" cy="254000"/>
          </a:xfrm>
          <a:prstGeom prst="rect">
            <a:avLst/>
          </a:prstGeom>
        </p:spPr>
      </p:pic>
      <p:pic>
        <p:nvPicPr>
          <p:cNvPr id="4" name="Picture 3" descr="fig-context-window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1973090"/>
            <a:ext cx="5842000" cy="38008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0000" y="825119"/>
            <a:ext cx="3286224" cy="533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eaLnBrk="0">
              <a:lnSpc>
                <a:spcPts val="4200"/>
              </a:lnSpc>
            </a:pPr>
            <a:r>
              <a:rPr sz="3600" b="0" spc="-18">
                <a:solidFill>
                  <a:srgbClr val="FFFFFF"/>
                </a:solidFill>
                <a:latin typeface="Anton"/>
                <a:ea typeface="Paperlogy 8 ExtraBold"/>
                <a:cs typeface="Paperlogy 8 ExtraBold"/>
              </a:rPr>
              <a:t>토큰과 컨텍스트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1911350"/>
            <a:ext cx="1519436" cy="304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eaLnBrk="0">
              <a:lnSpc>
                <a:spcPts val="2400"/>
              </a:lnSpc>
            </a:pPr>
            <a:r>
              <a:rPr sz="1800" b="0">
                <a:solidFill>
                  <a:srgbClr val="808080"/>
                </a:solidFill>
                <a:latin typeface="Paperlogy 5 Medium"/>
                <a:ea typeface="Paperlogy 5 Medium"/>
                <a:cs typeface="Paperlogy 5 Medium"/>
              </a:rPr>
              <a:t>토큰 </a:t>
            </a:r>
            <a:r>
              <a:rPr sz="1800" b="0">
                <a:solidFill>
                  <a:srgbClr val="808080"/>
                </a:solidFill>
                <a:latin typeface="JetBrains Mono Medium"/>
                <a:ea typeface="Paperlogy 5 Medium"/>
                <a:cs typeface="Paperlogy 5 Medium"/>
              </a:rPr>
              <a:t>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2244725"/>
            <a:ext cx="3810000" cy="8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ts val="3200"/>
              </a:lnSpc>
            </a:pPr>
            <a:r>
              <a:rPr sz="2400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언어 모델이 처리하는 가장</a:t>
            </a:r>
          </a:p>
          <a:p>
            <a:pPr algn="l" eaLnBrk="0">
              <a:lnSpc>
                <a:spcPts val="3200"/>
              </a:lnSpc>
            </a:pPr>
            <a:r>
              <a:rPr sz="2400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작은 단위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3111500"/>
            <a:ext cx="38100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ts val="2400"/>
              </a:lnSpc>
            </a:pPr>
            <a:r>
              <a:rPr sz="1800" b="0">
                <a:solidFill>
                  <a:srgbClr val="808080"/>
                </a:solidFill>
                <a:latin typeface="Paperlogy 4 Regular"/>
                <a:ea typeface="Paperlogy 4 Regular"/>
                <a:cs typeface="Paperlogy 4 Regular"/>
              </a:rPr>
              <a:t>단어, 단어 조각, 글자, 바이트에 해당할</a:t>
            </a:r>
          </a:p>
          <a:p>
            <a:pPr algn="l" eaLnBrk="0">
              <a:lnSpc>
                <a:spcPts val="2400"/>
              </a:lnSpc>
            </a:pPr>
            <a:r>
              <a:rPr sz="1800" b="0">
                <a:solidFill>
                  <a:srgbClr val="808080"/>
                </a:solidFill>
                <a:latin typeface="Paperlogy 4 Regular"/>
                <a:ea typeface="Paperlogy 4 Regular"/>
                <a:cs typeface="Paperlogy 4 Regular"/>
              </a:rPr>
              <a:t>수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4025900"/>
            <a:ext cx="2196108" cy="304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eaLnBrk="0">
              <a:lnSpc>
                <a:spcPts val="2400"/>
              </a:lnSpc>
            </a:pPr>
            <a:r>
              <a:rPr sz="1800" b="0">
                <a:solidFill>
                  <a:srgbClr val="808080"/>
                </a:solidFill>
                <a:latin typeface="Paperlogy 5 Medium"/>
                <a:ea typeface="Paperlogy 5 Medium"/>
                <a:cs typeface="Paperlogy 5 Medium"/>
              </a:rPr>
              <a:t>컨텍스트 </a:t>
            </a:r>
            <a:r>
              <a:rPr sz="1800" b="0">
                <a:solidFill>
                  <a:srgbClr val="808080"/>
                </a:solidFill>
                <a:latin typeface="JetBrains Mono Medium"/>
                <a:ea typeface="Paperlogy 5 Medium"/>
                <a:cs typeface="Paperlogy 5 Medium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0" y="4359275"/>
            <a:ext cx="3810000" cy="8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ts val="3200"/>
              </a:lnSpc>
            </a:pPr>
            <a:r>
              <a:rPr sz="2400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LLM이 출력을 생성할 때</a:t>
            </a:r>
          </a:p>
          <a:p>
            <a:pPr algn="l" eaLnBrk="0">
              <a:lnSpc>
                <a:spcPts val="3200"/>
              </a:lnSpc>
            </a:pPr>
            <a:r>
              <a:rPr sz="2400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참조하는 토큰의 집합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0" y="5226050"/>
            <a:ext cx="38100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ts val="2400"/>
              </a:lnSpc>
            </a:pPr>
            <a:r>
              <a:rPr sz="1800" b="0">
                <a:solidFill>
                  <a:srgbClr val="808080"/>
                </a:solidFill>
                <a:latin typeface="Paperlogy 4 Regular"/>
                <a:ea typeface="Paperlogy 4 Regular"/>
                <a:cs typeface="Paperlogy 4 Regular"/>
              </a:rPr>
              <a:t>입력과 지금까지 생성한 출력을 모두</a:t>
            </a:r>
          </a:p>
          <a:p>
            <a:pPr algn="l" eaLnBrk="0">
              <a:lnSpc>
                <a:spcPts val="2400"/>
              </a:lnSpc>
            </a:pPr>
            <a:r>
              <a:rPr sz="1800" b="0">
                <a:solidFill>
                  <a:srgbClr val="808080"/>
                </a:solidFill>
                <a:latin typeface="Paperlogy 4 Regular"/>
                <a:ea typeface="Paperlogy 4 Regular"/>
                <a:cs typeface="Paperlogy 4 Regular"/>
              </a:rPr>
              <a:t>포함한다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bg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k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279400"/>
            <a:ext cx="546100" cy="254000"/>
          </a:xfrm>
          <a:prstGeom prst="rect">
            <a:avLst/>
          </a:prstGeom>
        </p:spPr>
      </p:pic>
      <p:pic>
        <p:nvPicPr>
          <p:cNvPr id="4" name="Picture 3" descr="fig-context-rot-chroma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378" y="2746375"/>
            <a:ext cx="6347245" cy="314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0000" y="825119"/>
            <a:ext cx="2486124" cy="533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eaLnBrk="0">
              <a:lnSpc>
                <a:spcPts val="4200"/>
              </a:lnSpc>
            </a:pPr>
            <a:r>
              <a:rPr sz="3600" b="0" spc="-18">
                <a:solidFill>
                  <a:srgbClr val="FFFFFF"/>
                </a:solidFill>
                <a:latin typeface="Anton"/>
                <a:ea typeface="Paperlogy 8 ExtraBold"/>
                <a:cs typeface="Paperlogy 8 ExtraBold"/>
              </a:rPr>
              <a:t>컨텍스트 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2216150"/>
            <a:ext cx="3407767" cy="304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eaLnBrk="0">
              <a:lnSpc>
                <a:spcPts val="2400"/>
              </a:lnSpc>
            </a:pPr>
            <a:r>
              <a:rPr sz="1800" b="0">
                <a:solidFill>
                  <a:srgbClr val="808080"/>
                </a:solidFill>
                <a:latin typeface="Paperlogy 5 Medium"/>
                <a:ea typeface="Paperlogy 5 Medium"/>
                <a:cs typeface="Paperlogy 5 Medium"/>
              </a:rPr>
              <a:t>컨텍스트 창 </a:t>
            </a:r>
            <a:r>
              <a:rPr sz="1800" b="0">
                <a:solidFill>
                  <a:srgbClr val="808080"/>
                </a:solidFill>
                <a:latin typeface="JetBrains Mono Medium"/>
                <a:ea typeface="Paperlogy 5 Medium"/>
                <a:cs typeface="Paperlogy 5 Medium"/>
              </a:rPr>
              <a:t>Context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2549525"/>
            <a:ext cx="3302000" cy="121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ts val="3200"/>
              </a:lnSpc>
            </a:pPr>
            <a:r>
              <a:rPr sz="2400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모델이 새 텍스트를</a:t>
            </a:r>
          </a:p>
          <a:p>
            <a:pPr algn="l" eaLnBrk="0">
              <a:lnSpc>
                <a:spcPts val="3200"/>
              </a:lnSpc>
            </a:pPr>
            <a:r>
              <a:rPr sz="2400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생성할 때 참조할 수 있는</a:t>
            </a:r>
          </a:p>
          <a:p>
            <a:pPr algn="l" eaLnBrk="0">
              <a:lnSpc>
                <a:spcPts val="3200"/>
              </a:lnSpc>
            </a:pPr>
            <a:r>
              <a:rPr sz="2400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텍스트의 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3822700"/>
            <a:ext cx="1889820" cy="304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eaLnBrk="0">
              <a:lnSpc>
                <a:spcPts val="2400"/>
              </a:lnSpc>
            </a:pPr>
            <a:r>
              <a:rPr sz="1800" b="0">
                <a:solidFill>
                  <a:srgbClr val="808080"/>
                </a:solidFill>
                <a:latin typeface="Paperlogy 4 Regular"/>
                <a:ea typeface="Paperlogy 4 Regular"/>
                <a:cs typeface="Paperlogy 4 Regular"/>
              </a:rPr>
              <a:t>모델의 작업 기억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4432300"/>
            <a:ext cx="1519436" cy="304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eaLnBrk="0">
              <a:lnSpc>
                <a:spcPts val="2400"/>
              </a:lnSpc>
            </a:pPr>
            <a:r>
              <a:rPr sz="1800" b="0">
                <a:solidFill>
                  <a:srgbClr val="808080"/>
                </a:solidFill>
                <a:latin typeface="Paperlogy 5 Medium"/>
                <a:ea typeface="Paperlogy 5 Medium"/>
                <a:cs typeface="Paperlogy 5 Medium"/>
              </a:rPr>
              <a:t>한계 </a:t>
            </a:r>
            <a:r>
              <a:rPr sz="1800" b="0">
                <a:solidFill>
                  <a:srgbClr val="808080"/>
                </a:solidFill>
                <a:latin typeface="JetBrains Mono Medium"/>
                <a:ea typeface="Paperlogy 5 Medium"/>
                <a:cs typeface="Paperlogy 5 Medium"/>
              </a:rPr>
              <a:t>Limit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0" y="4765675"/>
            <a:ext cx="2986385" cy="406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eaLnBrk="0">
              <a:lnSpc>
                <a:spcPts val="3200"/>
              </a:lnSpc>
            </a:pPr>
            <a:r>
              <a:rPr sz="2400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200K 또는 1M 토큰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0" y="5226050"/>
            <a:ext cx="2337891" cy="304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eaLnBrk="0">
              <a:lnSpc>
                <a:spcPts val="2400"/>
              </a:lnSpc>
            </a:pPr>
            <a:r>
              <a:rPr sz="1800" b="0">
                <a:solidFill>
                  <a:srgbClr val="808080"/>
                </a:solidFill>
                <a:latin typeface="Paperlogy 4 Regular"/>
                <a:ea typeface="Paperlogy 4 Regular"/>
                <a:cs typeface="Paperlogy 4 Regular"/>
              </a:rPr>
              <a:t>입력 + 출력의 합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51025"/>
            <a:ext cx="3197423" cy="304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eaLnBrk="0">
              <a:lnSpc>
                <a:spcPts val="2400"/>
              </a:lnSpc>
            </a:pPr>
            <a:r>
              <a:rPr sz="1800" b="0">
                <a:solidFill>
                  <a:srgbClr val="808080"/>
                </a:solidFill>
                <a:latin typeface="Paperlogy 5 Medium"/>
                <a:ea typeface="Paperlogy 5 Medium"/>
                <a:cs typeface="Paperlogy 5 Medium"/>
              </a:rPr>
              <a:t>컨텍스트 부패 </a:t>
            </a:r>
            <a:r>
              <a:rPr sz="1800" b="0">
                <a:solidFill>
                  <a:srgbClr val="808080"/>
                </a:solidFill>
                <a:latin typeface="JetBrains Mono Medium"/>
                <a:ea typeface="Paperlogy 5 Medium"/>
                <a:cs typeface="Paperlogy 5 Medium"/>
              </a:rPr>
              <a:t>Context rot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84400"/>
            <a:ext cx="5812631" cy="406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eaLnBrk="0">
              <a:lnSpc>
                <a:spcPts val="3200"/>
              </a:lnSpc>
            </a:pPr>
            <a:r>
              <a:rPr sz="2400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토큰이 늘수록 정확도와 회상이 떨어지는 현상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